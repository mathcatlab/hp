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notesMasterIdLst>
    <p:notesMasterId r:id="rId4"/>
  </p:notesMasterIdLst>
  <p:handoutMasterIdLst>
    <p:handoutMasterId r:id="rId5"/>
  </p:handoutMasterIdLst>
  <p:sldIdLst>
    <p:sldId id="2147474490" r:id="rId2"/>
    <p:sldId id="2147474479" r:id="rId3"/>
  </p:sldIdLst>
  <p:sldSz cx="12192000" cy="6858000"/>
  <p:notesSz cx="9866313" cy="67357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なしのセクション" id="{7CF9D5E6-F429-4B07-9140-A443FEC770FA}">
          <p14:sldIdLst>
            <p14:sldId id="2147474490"/>
            <p14:sldId id="2147474479"/>
          </p14:sldIdLst>
        </p14:section>
      </p14:sectionLst>
    </p:ext>
    <p:ext uri="{EFAFB233-063F-42B5-8137-9DF3F51BA10A}">
      <p15:sldGuideLst xmlns:p15="http://schemas.microsoft.com/office/powerpoint/2012/main">
        <p15:guide id="3" orient="horz" pos="3974" userDrawn="1">
          <p15:clr>
            <a:srgbClr val="A4A3A4"/>
          </p15:clr>
        </p15:guide>
        <p15:guide id="4" pos="388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22" userDrawn="1">
          <p15:clr>
            <a:srgbClr val="A4A3A4"/>
          </p15:clr>
        </p15:guide>
        <p15:guide id="2" pos="3110" userDrawn="1">
          <p15:clr>
            <a:srgbClr val="A4A3A4"/>
          </p15:clr>
        </p15:guide>
        <p15:guide id="4" pos="310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ideshi_Ooka" initials="H" lastIdx="2" clrIdx="0">
    <p:extLst>
      <p:ext uri="{19B8F6BF-5375-455C-9EA6-DF929625EA0E}">
        <p15:presenceInfo xmlns:p15="http://schemas.microsoft.com/office/powerpoint/2012/main" userId="Hideshi_Ook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1506"/>
    <a:srgbClr val="FFBF4D"/>
    <a:srgbClr val="F3B707"/>
    <a:srgbClr val="0094A5"/>
    <a:srgbClr val="005B82"/>
    <a:srgbClr val="FF81FF"/>
    <a:srgbClr val="E6624D"/>
    <a:srgbClr val="6C25D8"/>
    <a:srgbClr val="008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457" autoAdjust="0"/>
    <p:restoredTop sz="85073" autoAdjust="0"/>
  </p:normalViewPr>
  <p:slideViewPr>
    <p:cSldViewPr showGuides="1">
      <p:cViewPr>
        <p:scale>
          <a:sx n="75" d="100"/>
          <a:sy n="75" d="100"/>
        </p:scale>
        <p:origin x="2268" y="384"/>
      </p:cViewPr>
      <p:guideLst>
        <p:guide orient="horz" pos="3974"/>
        <p:guide pos="388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64" d="100"/>
          <a:sy n="164" d="100"/>
        </p:scale>
        <p:origin x="2536" y="92"/>
      </p:cViewPr>
      <p:guideLst>
        <p:guide orient="horz" pos="2122"/>
        <p:guide pos="3110"/>
        <p:guide pos="310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handoutMaster" Target="handoutMasters/handoutMaster1.xml"/><Relationship Id="rId10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6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5588633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r">
              <a:defRPr sz="1200"/>
            </a:lvl1pPr>
          </a:lstStyle>
          <a:p>
            <a:fld id="{FD2B4BCF-55E2-4653-B607-A4A4F08D7C21}" type="datetimeFigureOut">
              <a:rPr kumimoji="1" lang="ja-JP" altLang="en-US" smtClean="0"/>
              <a:t>2026/3/31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6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5588633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r">
              <a:defRPr sz="1200"/>
            </a:lvl1pPr>
          </a:lstStyle>
          <a:p>
            <a:fld id="{19D3B358-836B-48EB-BACF-51432048DFB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6720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121" userDrawn="1">
          <p15:clr>
            <a:srgbClr val="F26B43"/>
          </p15:clr>
        </p15:guide>
        <p15:guide id="2" pos="3107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6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5588633" y="0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/>
          <a:lstStyle>
            <a:lvl1pPr algn="r">
              <a:defRPr sz="1200"/>
            </a:lvl1pPr>
          </a:lstStyle>
          <a:p>
            <a:fld id="{FDE72336-AA09-41ED-BEA9-7779C42A9B89}" type="datetimeFigureOut">
              <a:rPr kumimoji="1" lang="ja-JP" altLang="en-US" smtClean="0"/>
              <a:t>2026/3/31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687638" y="504825"/>
            <a:ext cx="4491037" cy="25257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63" tIns="45382" rIns="90763" bIns="45382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986632" y="3199488"/>
            <a:ext cx="7893050" cy="3031094"/>
          </a:xfrm>
          <a:prstGeom prst="rect">
            <a:avLst/>
          </a:prstGeom>
        </p:spPr>
        <p:txBody>
          <a:bodyPr vert="horz" lIns="90763" tIns="45382" rIns="90763" bIns="45382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6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5588633" y="6397806"/>
            <a:ext cx="4275401" cy="336788"/>
          </a:xfrm>
          <a:prstGeom prst="rect">
            <a:avLst/>
          </a:prstGeom>
        </p:spPr>
        <p:txBody>
          <a:bodyPr vert="horz" lIns="90763" tIns="45382" rIns="90763" bIns="45382" rtlCol="0" anchor="b"/>
          <a:lstStyle>
            <a:lvl1pPr algn="r">
              <a:defRPr sz="1200"/>
            </a:lvl1pPr>
          </a:lstStyle>
          <a:p>
            <a:fld id="{D6E817BB-6054-49CF-855F-D88016E1F26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314782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3215681" y="260648"/>
            <a:ext cx="5760640" cy="548679"/>
          </a:xfrm>
        </p:spPr>
        <p:txBody>
          <a:bodyPr lIns="0" tIns="0" rIns="0" bIns="0">
            <a:noAutofit/>
          </a:bodyPr>
          <a:lstStyle>
            <a:lvl1pPr algn="ctr">
              <a:defRPr sz="3600" b="1">
                <a:solidFill>
                  <a:schemeClr val="tx1">
                    <a:lumMod val="85000"/>
                    <a:lumOff val="15000"/>
                  </a:schemeClr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Arial" panose="020B0604020202020204" pitchFamily="34" charset="0"/>
              </a:defRPr>
            </a:lvl1pPr>
          </a:lstStyle>
          <a:p>
            <a:r>
              <a:rPr kumimoji="1" lang="en-US" altLang="ja-JP" dirty="0"/>
              <a:t>TITLE EXAMPLE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84295F0-F485-4B4E-B58A-F247BEEDA1D0}" type="datetime1">
              <a:rPr lang="ja-JP" altLang="en-US" smtClean="0"/>
              <a:pPr/>
              <a:t>2026/3/31</a:t>
            </a:fld>
            <a:endParaRPr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ja-JP" altLang="en-US"/>
          </a:p>
        </p:txBody>
      </p:sp>
      <p:sp>
        <p:nvSpPr>
          <p:cNvPr id="3" name="スライド番号プレースホルダー 5">
            <a:extLst>
              <a:ext uri="{FF2B5EF4-FFF2-40B4-BE49-F238E27FC236}">
                <a16:creationId xmlns:a16="http://schemas.microsoft.com/office/drawing/2014/main" id="{9F643941-FC45-FD89-42A9-B8F56353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4565" y="6356352"/>
            <a:ext cx="822987" cy="365125"/>
          </a:xfrm>
        </p:spPr>
        <p:txBody>
          <a:bodyPr/>
          <a:lstStyle>
            <a:lvl1pPr>
              <a:defRPr sz="1800" b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fld id="{E7EAB151-777E-4256-8867-8A5AB6026266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25964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2" y="242606"/>
            <a:ext cx="12191999" cy="548679"/>
          </a:xfrm>
        </p:spPr>
        <p:txBody>
          <a:bodyPr lIns="0" tIns="0" rIns="0" bIns="0">
            <a:noAutofit/>
          </a:bodyPr>
          <a:lstStyle>
            <a:lvl1pPr algn="ctr">
              <a:defRPr sz="3200" b="1"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r>
              <a:rPr kumimoji="1" lang="en-US" altLang="ja-JP" dirty="0"/>
              <a:t>TITLE EXAMPLE</a:t>
            </a:r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>
          <a:xfrm>
            <a:off x="11184565" y="6356352"/>
            <a:ext cx="822987" cy="365125"/>
          </a:xfrm>
        </p:spPr>
        <p:txBody>
          <a:bodyPr/>
          <a:lstStyle>
            <a:lvl1pPr>
              <a:defRPr sz="1800" b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fld id="{E7EAB151-777E-4256-8867-8A5AB6026266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cxnSp>
        <p:nvCxnSpPr>
          <p:cNvPr id="3" name="直线连接符 5">
            <a:extLst>
              <a:ext uri="{FF2B5EF4-FFF2-40B4-BE49-F238E27FC236}">
                <a16:creationId xmlns:a16="http://schemas.microsoft.com/office/drawing/2014/main" id="{AED24B3D-12FD-EB93-CC1A-D8E80F148F76}"/>
              </a:ext>
            </a:extLst>
          </p:cNvPr>
          <p:cNvCxnSpPr/>
          <p:nvPr userDrawn="1"/>
        </p:nvCxnSpPr>
        <p:spPr>
          <a:xfrm>
            <a:off x="369349" y="836712"/>
            <a:ext cx="11422007" cy="0"/>
          </a:xfrm>
          <a:prstGeom prst="line">
            <a:avLst/>
          </a:prstGeom>
          <a:ln w="57150">
            <a:solidFill>
              <a:srgbClr val="005B8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26">
            <a:extLst>
              <a:ext uri="{FF2B5EF4-FFF2-40B4-BE49-F238E27FC236}">
                <a16:creationId xmlns:a16="http://schemas.microsoft.com/office/drawing/2014/main" id="{C628E5D0-3BB8-40F4-B344-17C24E0F5412}"/>
              </a:ext>
            </a:extLst>
          </p:cNvPr>
          <p:cNvSpPr/>
          <p:nvPr userDrawn="1"/>
        </p:nvSpPr>
        <p:spPr>
          <a:xfrm>
            <a:off x="-637268" y="4987161"/>
            <a:ext cx="425327" cy="318995"/>
          </a:xfrm>
          <a:prstGeom prst="rect">
            <a:avLst/>
          </a:prstGeom>
          <a:solidFill>
            <a:srgbClr val="D515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矩形 27">
            <a:extLst>
              <a:ext uri="{FF2B5EF4-FFF2-40B4-BE49-F238E27FC236}">
                <a16:creationId xmlns:a16="http://schemas.microsoft.com/office/drawing/2014/main" id="{64AFE641-DDE6-B398-16E4-F3A921E043E6}"/>
              </a:ext>
            </a:extLst>
          </p:cNvPr>
          <p:cNvSpPr/>
          <p:nvPr userDrawn="1"/>
        </p:nvSpPr>
        <p:spPr>
          <a:xfrm>
            <a:off x="-637268" y="5374195"/>
            <a:ext cx="425327" cy="318995"/>
          </a:xfrm>
          <a:prstGeom prst="rect">
            <a:avLst/>
          </a:prstGeom>
          <a:solidFill>
            <a:srgbClr val="0094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矩形 29">
            <a:extLst>
              <a:ext uri="{FF2B5EF4-FFF2-40B4-BE49-F238E27FC236}">
                <a16:creationId xmlns:a16="http://schemas.microsoft.com/office/drawing/2014/main" id="{0A345607-C8E6-B2FB-0304-643336669D85}"/>
              </a:ext>
            </a:extLst>
          </p:cNvPr>
          <p:cNvSpPr/>
          <p:nvPr userDrawn="1"/>
        </p:nvSpPr>
        <p:spPr>
          <a:xfrm>
            <a:off x="-637268" y="5761229"/>
            <a:ext cx="425327" cy="318995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矩形 30">
            <a:extLst>
              <a:ext uri="{FF2B5EF4-FFF2-40B4-BE49-F238E27FC236}">
                <a16:creationId xmlns:a16="http://schemas.microsoft.com/office/drawing/2014/main" id="{B4872493-4A93-3225-285A-987DF56EB969}"/>
              </a:ext>
            </a:extLst>
          </p:cNvPr>
          <p:cNvSpPr/>
          <p:nvPr userDrawn="1"/>
        </p:nvSpPr>
        <p:spPr>
          <a:xfrm>
            <a:off x="-637268" y="6148263"/>
            <a:ext cx="425327" cy="318995"/>
          </a:xfrm>
          <a:prstGeom prst="rect">
            <a:avLst/>
          </a:prstGeom>
          <a:solidFill>
            <a:srgbClr val="F3B70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矩形 31">
            <a:extLst>
              <a:ext uri="{FF2B5EF4-FFF2-40B4-BE49-F238E27FC236}">
                <a16:creationId xmlns:a16="http://schemas.microsoft.com/office/drawing/2014/main" id="{CBEF110E-15CD-ED89-5D18-9BBD4DAE5D24}"/>
              </a:ext>
            </a:extLst>
          </p:cNvPr>
          <p:cNvSpPr/>
          <p:nvPr userDrawn="1"/>
        </p:nvSpPr>
        <p:spPr>
          <a:xfrm>
            <a:off x="-637268" y="6535295"/>
            <a:ext cx="425327" cy="318995"/>
          </a:xfrm>
          <a:prstGeom prst="rect">
            <a:avLst/>
          </a:prstGeom>
          <a:solidFill>
            <a:srgbClr val="005B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kumimoji="1" lang="zh-CN" alt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586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ADE345-DDEA-4E47-B76C-5997699471F1}" type="datetime1">
              <a:rPr lang="ja-JP" altLang="en-US" smtClean="0"/>
              <a:t>2026/3/31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EAB151-777E-4256-8867-8A5AB6026266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070709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図 89">
            <a:extLst>
              <a:ext uri="{FF2B5EF4-FFF2-40B4-BE49-F238E27FC236}">
                <a16:creationId xmlns:a16="http://schemas.microsoft.com/office/drawing/2014/main" id="{8537DFA8-AA03-1E3F-DDFD-373DEC2A62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436" y="4156866"/>
            <a:ext cx="2506334" cy="1703680"/>
          </a:xfrm>
          <a:prstGeom prst="rect">
            <a:avLst/>
          </a:prstGeom>
        </p:spPr>
      </p:pic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3B38399-8B51-78AA-6444-52B8663553CC}"/>
              </a:ext>
            </a:extLst>
          </p:cNvPr>
          <p:cNvSpPr/>
          <p:nvPr/>
        </p:nvSpPr>
        <p:spPr>
          <a:xfrm>
            <a:off x="4778761" y="4030725"/>
            <a:ext cx="2490888" cy="1846895"/>
          </a:xfrm>
          <a:prstGeom prst="rect">
            <a:avLst/>
          </a:prstGeom>
          <a:noFill/>
          <a:ln w="28575"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3" name="図 102">
            <a:extLst>
              <a:ext uri="{FF2B5EF4-FFF2-40B4-BE49-F238E27FC236}">
                <a16:creationId xmlns:a16="http://schemas.microsoft.com/office/drawing/2014/main" id="{57C4B1DC-5B82-B77C-74DB-95840A9F1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578" y="2100924"/>
            <a:ext cx="2777214" cy="1015398"/>
          </a:xfrm>
          <a:prstGeom prst="rect">
            <a:avLst/>
          </a:prstGeom>
        </p:spPr>
      </p:pic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97A0A303-BDDE-EEEC-23AE-16798E98F597}"/>
              </a:ext>
            </a:extLst>
          </p:cNvPr>
          <p:cNvSpPr/>
          <p:nvPr/>
        </p:nvSpPr>
        <p:spPr>
          <a:xfrm>
            <a:off x="556283" y="2077527"/>
            <a:ext cx="3660910" cy="4080155"/>
          </a:xfrm>
          <a:prstGeom prst="rect">
            <a:avLst/>
          </a:prstGeom>
          <a:noFill/>
          <a:ln w="28575"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FB7BB29C-B81B-E3FF-D67A-E40E286FB75F}"/>
              </a:ext>
            </a:extLst>
          </p:cNvPr>
          <p:cNvCxnSpPr>
            <a:cxnSpLocks/>
          </p:cNvCxnSpPr>
          <p:nvPr/>
        </p:nvCxnSpPr>
        <p:spPr>
          <a:xfrm>
            <a:off x="4223792" y="2077527"/>
            <a:ext cx="570806" cy="1917998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F6A254C-D3A7-F6A8-CC60-F239FCC6A12A}"/>
              </a:ext>
            </a:extLst>
          </p:cNvPr>
          <p:cNvCxnSpPr>
            <a:cxnSpLocks/>
          </p:cNvCxnSpPr>
          <p:nvPr/>
        </p:nvCxnSpPr>
        <p:spPr>
          <a:xfrm flipV="1">
            <a:off x="4207955" y="5895746"/>
            <a:ext cx="570806" cy="261937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テキスト ボックス 98">
            <a:extLst>
              <a:ext uri="{FF2B5EF4-FFF2-40B4-BE49-F238E27FC236}">
                <a16:creationId xmlns:a16="http://schemas.microsoft.com/office/drawing/2014/main" id="{8D76FB4C-90C3-5377-C0A5-4178884C6387}"/>
              </a:ext>
            </a:extLst>
          </p:cNvPr>
          <p:cNvSpPr txBox="1"/>
          <p:nvPr/>
        </p:nvSpPr>
        <p:spPr>
          <a:xfrm>
            <a:off x="789265" y="1651223"/>
            <a:ext cx="3160779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DFT + ML</a:t>
            </a:r>
            <a:endParaRPr kumimoji="1" lang="ja-JP" altLang="en-US" sz="1600" b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9" name="Picture 2" descr="Image result for materials project logo">
            <a:extLst>
              <a:ext uri="{FF2B5EF4-FFF2-40B4-BE49-F238E27FC236}">
                <a16:creationId xmlns:a16="http://schemas.microsoft.com/office/drawing/2014/main" id="{7DAAAD56-8FC0-5731-727A-77009C6BBB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052" y="2244940"/>
            <a:ext cx="813559" cy="766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5" name="グループ化 94">
            <a:extLst>
              <a:ext uri="{FF2B5EF4-FFF2-40B4-BE49-F238E27FC236}">
                <a16:creationId xmlns:a16="http://schemas.microsoft.com/office/drawing/2014/main" id="{B6B69DD8-3591-3B6C-C540-4581B1349A91}"/>
              </a:ext>
            </a:extLst>
          </p:cNvPr>
          <p:cNvGrpSpPr/>
          <p:nvPr/>
        </p:nvGrpSpPr>
        <p:grpSpPr>
          <a:xfrm>
            <a:off x="651271" y="5580535"/>
            <a:ext cx="3461006" cy="438144"/>
            <a:chOff x="1269230" y="8085460"/>
            <a:chExt cx="5659018" cy="716400"/>
          </a:xfrm>
        </p:grpSpPr>
        <p:pic>
          <p:nvPicPr>
            <p:cNvPr id="93" name="図 92">
              <a:extLst>
                <a:ext uri="{FF2B5EF4-FFF2-40B4-BE49-F238E27FC236}">
                  <a16:creationId xmlns:a16="http://schemas.microsoft.com/office/drawing/2014/main" id="{F23CCA7B-7A8E-CE76-07F0-AD7305D1FB3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69230" y="8085460"/>
              <a:ext cx="4957493" cy="716400"/>
            </a:xfrm>
            <a:prstGeom prst="rect">
              <a:avLst/>
            </a:prstGeom>
          </p:spPr>
        </p:pic>
        <p:pic>
          <p:nvPicPr>
            <p:cNvPr id="94" name="図 93">
              <a:extLst>
                <a:ext uri="{FF2B5EF4-FFF2-40B4-BE49-F238E27FC236}">
                  <a16:creationId xmlns:a16="http://schemas.microsoft.com/office/drawing/2014/main" id="{F9553526-853E-BDDA-9110-F9ABFB4F687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90246"/>
            <a:stretch/>
          </p:blipFill>
          <p:spPr>
            <a:xfrm>
              <a:off x="6201595" y="8087385"/>
              <a:ext cx="726653" cy="714475"/>
            </a:xfrm>
            <a:prstGeom prst="rect">
              <a:avLst/>
            </a:prstGeom>
          </p:spPr>
        </p:pic>
      </p:grpSp>
      <p:pic>
        <p:nvPicPr>
          <p:cNvPr id="97" name="図 96">
            <a:extLst>
              <a:ext uri="{FF2B5EF4-FFF2-40B4-BE49-F238E27FC236}">
                <a16:creationId xmlns:a16="http://schemas.microsoft.com/office/drawing/2014/main" id="{B36AA768-0DB4-0F1F-4103-195FFD3625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681" y="3330827"/>
            <a:ext cx="3579643" cy="1989352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F17CA03-618B-2058-244D-BA52F230DAA0}"/>
              </a:ext>
            </a:extLst>
          </p:cNvPr>
          <p:cNvSpPr txBox="1"/>
          <p:nvPr/>
        </p:nvSpPr>
        <p:spPr>
          <a:xfrm>
            <a:off x="4554095" y="3379972"/>
            <a:ext cx="3160779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Thermodynamics</a:t>
            </a:r>
          </a:p>
          <a:p>
            <a:pPr algn="ctr"/>
            <a:r>
              <a:rPr kumimoji="1" lang="en-US" altLang="ja-JP" sz="1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(No time scale information)</a:t>
            </a:r>
            <a:endParaRPr kumimoji="1" lang="ja-JP" altLang="en-US" sz="1100" b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4422854-11CF-1ACB-A155-E0DF80564358}"/>
              </a:ext>
            </a:extLst>
          </p:cNvPr>
          <p:cNvSpPr txBox="1"/>
          <p:nvPr/>
        </p:nvSpPr>
        <p:spPr>
          <a:xfrm>
            <a:off x="7136937" y="1795281"/>
            <a:ext cx="21185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2400"/>
              </a:lnSpc>
            </a:pPr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Reaction </a:t>
            </a:r>
          </a:p>
          <a:p>
            <a:pPr algn="l">
              <a:lnSpc>
                <a:spcPts val="2400"/>
              </a:lnSpc>
            </a:pPr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 [mol/s]</a:t>
            </a:r>
            <a:endParaRPr kumimoji="1" lang="ja-JP" altLang="en-US" sz="2400" b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2F0089A-380F-4D9F-F731-918D7A38C523}"/>
              </a:ext>
            </a:extLst>
          </p:cNvPr>
          <p:cNvSpPr txBox="1"/>
          <p:nvPr/>
        </p:nvSpPr>
        <p:spPr>
          <a:xfrm>
            <a:off x="7427677" y="5512519"/>
            <a:ext cx="37384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Driving</a:t>
            </a:r>
            <a:r>
              <a:rPr kumimoji="1" lang="ja-JP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Force</a:t>
            </a:r>
            <a:r>
              <a:rPr kumimoji="1" lang="ja-JP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[V] </a:t>
            </a: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782EA566-2B69-F6CA-655E-E1AB388C1259}"/>
              </a:ext>
            </a:extLst>
          </p:cNvPr>
          <p:cNvGrpSpPr/>
          <p:nvPr/>
        </p:nvGrpSpPr>
        <p:grpSpPr>
          <a:xfrm>
            <a:off x="5869632" y="1507433"/>
            <a:ext cx="4949591" cy="4370187"/>
            <a:chOff x="5869632" y="864074"/>
            <a:chExt cx="4949591" cy="4370187"/>
          </a:xfrm>
        </p:grpSpPr>
        <p:sp>
          <p:nvSpPr>
            <p:cNvPr id="4" name="円弧 3">
              <a:extLst>
                <a:ext uri="{FF2B5EF4-FFF2-40B4-BE49-F238E27FC236}">
                  <a16:creationId xmlns:a16="http://schemas.microsoft.com/office/drawing/2014/main" id="{B8BE0557-FD95-ADF6-8F19-D301A7158673}"/>
                </a:ext>
              </a:extLst>
            </p:cNvPr>
            <p:cNvSpPr/>
            <p:nvPr/>
          </p:nvSpPr>
          <p:spPr>
            <a:xfrm>
              <a:off x="5869632" y="864074"/>
              <a:ext cx="3858720" cy="3958128"/>
            </a:xfrm>
            <a:prstGeom prst="arc">
              <a:avLst>
                <a:gd name="adj1" fmla="val 214147"/>
                <a:gd name="adj2" fmla="val 5314439"/>
              </a:avLst>
            </a:prstGeom>
            <a:ln w="76200">
              <a:solidFill>
                <a:srgbClr val="005B82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rgbClr val="FF5657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242B7810-001F-0659-7957-84F04AFB3511}"/>
                </a:ext>
              </a:extLst>
            </p:cNvPr>
            <p:cNvCxnSpPr>
              <a:cxnSpLocks/>
            </p:cNvCxnSpPr>
            <p:nvPr/>
          </p:nvCxnSpPr>
          <p:spPr>
            <a:xfrm>
              <a:off x="7860389" y="4812466"/>
              <a:ext cx="2958834" cy="0"/>
            </a:xfrm>
            <a:prstGeom prst="straightConnector1">
              <a:avLst/>
            </a:prstGeom>
            <a:ln w="76200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FA6F3D74-8994-6F20-B4BF-65F8AF6B2D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60389" y="1847112"/>
              <a:ext cx="0" cy="3001043"/>
            </a:xfrm>
            <a:prstGeom prst="straightConnector1">
              <a:avLst/>
            </a:prstGeom>
            <a:ln w="76200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楕円 31">
              <a:extLst>
                <a:ext uri="{FF2B5EF4-FFF2-40B4-BE49-F238E27FC236}">
                  <a16:creationId xmlns:a16="http://schemas.microsoft.com/office/drawing/2014/main" id="{9EF8D7DF-FAA4-EB7E-5505-10E551333B14}"/>
                </a:ext>
              </a:extLst>
            </p:cNvPr>
            <p:cNvSpPr/>
            <p:nvPr/>
          </p:nvSpPr>
          <p:spPr>
            <a:xfrm>
              <a:off x="7687275" y="4570151"/>
              <a:ext cx="402176" cy="402174"/>
            </a:xfrm>
            <a:prstGeom prst="ellipse">
              <a:avLst/>
            </a:prstGeom>
            <a:noFill/>
            <a:ln w="285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3" name="直線コネクタ 32">
              <a:extLst>
                <a:ext uri="{FF2B5EF4-FFF2-40B4-BE49-F238E27FC236}">
                  <a16:creationId xmlns:a16="http://schemas.microsoft.com/office/drawing/2014/main" id="{289CB4A3-4F29-285B-FF47-4E5855D1B4A1}"/>
                </a:ext>
              </a:extLst>
            </p:cNvPr>
            <p:cNvCxnSpPr>
              <a:cxnSpLocks/>
            </p:cNvCxnSpPr>
            <p:nvPr/>
          </p:nvCxnSpPr>
          <p:spPr>
            <a:xfrm>
              <a:off x="7299235" y="3387366"/>
              <a:ext cx="561154" cy="1154871"/>
            </a:xfrm>
            <a:prstGeom prst="line">
              <a:avLst/>
            </a:prstGeom>
            <a:ln w="285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コネクタ 33">
              <a:extLst>
                <a:ext uri="{FF2B5EF4-FFF2-40B4-BE49-F238E27FC236}">
                  <a16:creationId xmlns:a16="http://schemas.microsoft.com/office/drawing/2014/main" id="{B7EA08EB-E43D-E4E6-C4F8-B20CF45771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9235" y="4972324"/>
              <a:ext cx="570806" cy="261937"/>
            </a:xfrm>
            <a:prstGeom prst="line">
              <a:avLst/>
            </a:prstGeom>
            <a:ln w="285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BD6724AC-D886-579C-7B5C-A3D78519E4BA}"/>
              </a:ext>
            </a:extLst>
          </p:cNvPr>
          <p:cNvGrpSpPr/>
          <p:nvPr/>
        </p:nvGrpSpPr>
        <p:grpSpPr>
          <a:xfrm>
            <a:off x="9275807" y="1912407"/>
            <a:ext cx="2293142" cy="1767030"/>
            <a:chOff x="6467363" y="1129757"/>
            <a:chExt cx="2293142" cy="1767030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9690E326-FF19-E904-BE75-03EBDEAD6F65}"/>
                </a:ext>
              </a:extLst>
            </p:cNvPr>
            <p:cNvGrpSpPr/>
            <p:nvPr/>
          </p:nvGrpSpPr>
          <p:grpSpPr>
            <a:xfrm>
              <a:off x="6769020" y="1881124"/>
              <a:ext cx="914784" cy="1015663"/>
              <a:chOff x="6950840" y="1197720"/>
              <a:chExt cx="651767" cy="723642"/>
            </a:xfrm>
          </p:grpSpPr>
          <p:sp>
            <p:nvSpPr>
              <p:cNvPr id="11" name="円/楕円 11">
                <a:extLst>
                  <a:ext uri="{FF2B5EF4-FFF2-40B4-BE49-F238E27FC236}">
                    <a16:creationId xmlns:a16="http://schemas.microsoft.com/office/drawing/2014/main" id="{9F168B63-75BC-073A-17CC-A1FAE3290233}"/>
                  </a:ext>
                </a:extLst>
              </p:cNvPr>
              <p:cNvSpPr/>
              <p:nvPr/>
            </p:nvSpPr>
            <p:spPr>
              <a:xfrm>
                <a:off x="6991274" y="1278125"/>
                <a:ext cx="570901" cy="562830"/>
              </a:xfrm>
              <a:prstGeom prst="ellipse">
                <a:avLst/>
              </a:prstGeom>
              <a:noFill/>
              <a:ln w="57150">
                <a:solidFill>
                  <a:srgbClr val="D5150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>
                  <a:solidFill>
                    <a:srgbClr val="376C8A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74C5EBE5-2331-F85E-3A08-4D4DDF9BE349}"/>
                  </a:ext>
                </a:extLst>
              </p:cNvPr>
              <p:cNvSpPr txBox="1"/>
              <p:nvPr/>
            </p:nvSpPr>
            <p:spPr>
              <a:xfrm>
                <a:off x="6950840" y="1197720"/>
                <a:ext cx="651767" cy="72364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6000" b="1" dirty="0">
                    <a:solidFill>
                      <a:srgbClr val="D51506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?</a:t>
                </a:r>
                <a:endParaRPr kumimoji="1" lang="ja-JP" altLang="en-US" sz="11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B7259D41-CB5E-68DB-90D5-5B9A3BF06FF0}"/>
                </a:ext>
              </a:extLst>
            </p:cNvPr>
            <p:cNvSpPr txBox="1"/>
            <p:nvPr/>
          </p:nvSpPr>
          <p:spPr>
            <a:xfrm>
              <a:off x="6467363" y="1129757"/>
              <a:ext cx="2293142" cy="82073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ts val="3200"/>
                </a:lnSpc>
              </a:pPr>
              <a:r>
                <a:rPr kumimoji="1" lang="en-US" altLang="ja-JP" sz="32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Time scale</a:t>
              </a:r>
            </a:p>
            <a:p>
              <a:pPr>
                <a:lnSpc>
                  <a:spcPts val="3200"/>
                </a:lnSpc>
              </a:pPr>
              <a:r>
                <a:rPr kumimoji="1" lang="en-US" altLang="ja-JP" sz="3200" b="1" dirty="0">
                  <a:solidFill>
                    <a:srgbClr val="D5150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information</a:t>
              </a:r>
              <a:endParaRPr kumimoji="1" lang="ja-JP" altLang="en-US" sz="2000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5" name="円弧 104">
            <a:extLst>
              <a:ext uri="{FF2B5EF4-FFF2-40B4-BE49-F238E27FC236}">
                <a16:creationId xmlns:a16="http://schemas.microsoft.com/office/drawing/2014/main" id="{6574319A-B460-37A1-8457-6CBD08C23158}"/>
              </a:ext>
            </a:extLst>
          </p:cNvPr>
          <p:cNvSpPr/>
          <p:nvPr/>
        </p:nvSpPr>
        <p:spPr>
          <a:xfrm>
            <a:off x="6240332" y="1042869"/>
            <a:ext cx="3075018" cy="4422692"/>
          </a:xfrm>
          <a:prstGeom prst="arc">
            <a:avLst>
              <a:gd name="adj1" fmla="val 21582547"/>
              <a:gd name="adj2" fmla="val 5314439"/>
            </a:avLst>
          </a:prstGeom>
          <a:ln w="76200">
            <a:solidFill>
              <a:srgbClr val="005B82">
                <a:alpha val="40000"/>
              </a:srgb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FF56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円弧 105">
            <a:extLst>
              <a:ext uri="{FF2B5EF4-FFF2-40B4-BE49-F238E27FC236}">
                <a16:creationId xmlns:a16="http://schemas.microsoft.com/office/drawing/2014/main" id="{2C0E91B8-3C78-872E-A35E-C3DC90AB44DA}"/>
              </a:ext>
            </a:extLst>
          </p:cNvPr>
          <p:cNvSpPr/>
          <p:nvPr/>
        </p:nvSpPr>
        <p:spPr>
          <a:xfrm>
            <a:off x="5916355" y="1507433"/>
            <a:ext cx="4313779" cy="3958128"/>
          </a:xfrm>
          <a:prstGeom prst="arc">
            <a:avLst>
              <a:gd name="adj1" fmla="val 798251"/>
              <a:gd name="adj2" fmla="val 5314439"/>
            </a:avLst>
          </a:prstGeom>
          <a:ln w="76200">
            <a:solidFill>
              <a:srgbClr val="005B82">
                <a:alpha val="40000"/>
              </a:srgb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FF56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円弧 106">
            <a:extLst>
              <a:ext uri="{FF2B5EF4-FFF2-40B4-BE49-F238E27FC236}">
                <a16:creationId xmlns:a16="http://schemas.microsoft.com/office/drawing/2014/main" id="{03E15E10-9BCA-538A-8DC0-07F77D6D666B}"/>
              </a:ext>
            </a:extLst>
          </p:cNvPr>
          <p:cNvSpPr/>
          <p:nvPr/>
        </p:nvSpPr>
        <p:spPr>
          <a:xfrm>
            <a:off x="6842231" y="418641"/>
            <a:ext cx="2094431" cy="5046920"/>
          </a:xfrm>
          <a:prstGeom prst="arc">
            <a:avLst>
              <a:gd name="adj1" fmla="val 21471972"/>
              <a:gd name="adj2" fmla="val 5314439"/>
            </a:avLst>
          </a:prstGeom>
          <a:ln w="76200">
            <a:solidFill>
              <a:srgbClr val="005B82">
                <a:alpha val="10000"/>
              </a:srgb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FF56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円弧 107">
            <a:extLst>
              <a:ext uri="{FF2B5EF4-FFF2-40B4-BE49-F238E27FC236}">
                <a16:creationId xmlns:a16="http://schemas.microsoft.com/office/drawing/2014/main" id="{4B0FCDD8-A466-E93B-9E51-56B3DA10FDA9}"/>
              </a:ext>
            </a:extLst>
          </p:cNvPr>
          <p:cNvSpPr/>
          <p:nvPr/>
        </p:nvSpPr>
        <p:spPr>
          <a:xfrm>
            <a:off x="5507084" y="2346751"/>
            <a:ext cx="5159366" cy="3118810"/>
          </a:xfrm>
          <a:prstGeom prst="arc">
            <a:avLst>
              <a:gd name="adj1" fmla="val 689672"/>
              <a:gd name="adj2" fmla="val 5314439"/>
            </a:avLst>
          </a:prstGeom>
          <a:ln w="76200">
            <a:solidFill>
              <a:srgbClr val="005B82">
                <a:alpha val="10000"/>
              </a:srgb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FF565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7199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D22DFB3-62EA-567C-7E27-1552FA1C871E}"/>
              </a:ext>
            </a:extLst>
          </p:cNvPr>
          <p:cNvSpPr txBox="1"/>
          <p:nvPr/>
        </p:nvSpPr>
        <p:spPr>
          <a:xfrm>
            <a:off x="4831377" y="345018"/>
            <a:ext cx="2582160" cy="20467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lnSpc>
                <a:spcPts val="1400"/>
              </a:lnSpc>
            </a:pPr>
            <a:r>
              <a:rPr kumimoji="1" lang="en-US" altLang="ja-JP" sz="2400" b="1" dirty="0">
                <a:solidFill>
                  <a:srgbClr val="07889B"/>
                </a:solidFill>
                <a:latin typeface="Arial" panose="020B0604020202020204" pitchFamily="34" charset="0"/>
                <a:ea typeface="游ゴシック" panose="020B0400000000000000" pitchFamily="50" charset="-128"/>
                <a:cs typeface="Arial" panose="020B0604020202020204" pitchFamily="34" charset="0"/>
              </a:rPr>
              <a:t>Mathematics</a:t>
            </a:r>
            <a:endParaRPr kumimoji="1" lang="ja-JP" altLang="en-US" sz="2400" b="1" dirty="0">
              <a:solidFill>
                <a:srgbClr val="07889B"/>
              </a:solidFill>
              <a:latin typeface="Arial" panose="020B0604020202020204" pitchFamily="34" charset="0"/>
              <a:ea typeface="游ゴシック" panose="020B0400000000000000" pitchFamily="50" charset="-128"/>
              <a:cs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D40EEFA-27CB-44E0-C749-0CB7BCD081B6}"/>
              </a:ext>
            </a:extLst>
          </p:cNvPr>
          <p:cNvSpPr txBox="1"/>
          <p:nvPr/>
        </p:nvSpPr>
        <p:spPr>
          <a:xfrm>
            <a:off x="2436024" y="5301208"/>
            <a:ext cx="1493044" cy="20467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lnSpc>
                <a:spcPts val="1400"/>
              </a:lnSpc>
            </a:pPr>
            <a:r>
              <a:rPr kumimoji="1" lang="en-US" altLang="ja-JP" sz="2400" b="1" dirty="0">
                <a:solidFill>
                  <a:srgbClr val="C00000"/>
                </a:solidFill>
                <a:latin typeface="Arial" panose="020B0604020202020204" pitchFamily="34" charset="0"/>
                <a:ea typeface="游ゴシック" panose="020B0400000000000000" pitchFamily="50" charset="-128"/>
                <a:cs typeface="Arial" panose="020B0604020202020204" pitchFamily="34" charset="0"/>
              </a:rPr>
              <a:t>Chemistry</a:t>
            </a:r>
            <a:endParaRPr kumimoji="1" lang="ja-JP" altLang="en-US" sz="2400" b="1" dirty="0">
              <a:solidFill>
                <a:srgbClr val="C00000"/>
              </a:solidFill>
              <a:latin typeface="Arial" panose="020B0604020202020204" pitchFamily="34" charset="0"/>
              <a:ea typeface="游ゴシック" panose="020B0400000000000000" pitchFamily="50" charset="-128"/>
              <a:cs typeface="Arial" panose="020B0604020202020204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1C63EE6-34EB-2152-4827-E2FB0A380571}"/>
              </a:ext>
            </a:extLst>
          </p:cNvPr>
          <p:cNvSpPr txBox="1"/>
          <p:nvPr/>
        </p:nvSpPr>
        <p:spPr>
          <a:xfrm>
            <a:off x="7657202" y="5301208"/>
            <a:ext cx="3231070" cy="20467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lnSpc>
                <a:spcPts val="1400"/>
              </a:lnSpc>
            </a:pPr>
            <a:r>
              <a:rPr kumimoji="1" lang="en-US" altLang="ja-JP" sz="2400" b="1" dirty="0">
                <a:solidFill>
                  <a:srgbClr val="F79E02"/>
                </a:solidFill>
                <a:latin typeface="Arial" panose="020B0604020202020204" pitchFamily="34" charset="0"/>
                <a:ea typeface="游ゴシック" panose="020B0400000000000000" pitchFamily="50" charset="-128"/>
                <a:cs typeface="Arial" panose="020B0604020202020204" pitchFamily="34" charset="0"/>
              </a:rPr>
              <a:t>Data Science</a:t>
            </a:r>
            <a:endParaRPr kumimoji="1" lang="ja-JP" altLang="en-US" sz="2400" b="1" dirty="0">
              <a:solidFill>
                <a:srgbClr val="F79E02"/>
              </a:solidFill>
              <a:latin typeface="Arial" panose="020B0604020202020204" pitchFamily="34" charset="0"/>
              <a:ea typeface="游ゴシック" panose="020B0400000000000000" pitchFamily="50" charset="-128"/>
              <a:cs typeface="Arial" panose="020B0604020202020204" pitchFamily="34" charset="0"/>
            </a:endParaRP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1DD496E-D050-ED57-20C1-D5659D947FDD}"/>
              </a:ext>
            </a:extLst>
          </p:cNvPr>
          <p:cNvGrpSpPr/>
          <p:nvPr/>
        </p:nvGrpSpPr>
        <p:grpSpPr>
          <a:xfrm>
            <a:off x="3439239" y="518569"/>
            <a:ext cx="5313522" cy="5044080"/>
            <a:chOff x="3593654" y="1258906"/>
            <a:chExt cx="5313522" cy="5044080"/>
          </a:xfrm>
        </p:grpSpPr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82305B60-DF2F-E118-3D76-3955011AE5BA}"/>
                </a:ext>
              </a:extLst>
            </p:cNvPr>
            <p:cNvSpPr/>
            <p:nvPr/>
          </p:nvSpPr>
          <p:spPr>
            <a:xfrm>
              <a:off x="3593654" y="3357305"/>
              <a:ext cx="2891176" cy="2891174"/>
            </a:xfrm>
            <a:prstGeom prst="ellipse">
              <a:avLst/>
            </a:prstGeom>
            <a:solidFill>
              <a:srgbClr val="C00000">
                <a:alpha val="50196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400"/>
                </a:lnSpc>
              </a:pPr>
              <a:endParaRPr kumimoji="1" lang="ja-JP" altLang="en-US"/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00E62A24-2EAB-342D-B6C4-C025A564144E}"/>
                </a:ext>
              </a:extLst>
            </p:cNvPr>
            <p:cNvSpPr/>
            <p:nvPr/>
          </p:nvSpPr>
          <p:spPr>
            <a:xfrm>
              <a:off x="4804827" y="1258906"/>
              <a:ext cx="2891176" cy="2891178"/>
            </a:xfrm>
            <a:prstGeom prst="ellipse">
              <a:avLst/>
            </a:prstGeom>
            <a:solidFill>
              <a:srgbClr val="07889B">
                <a:alpha val="50196"/>
              </a:srgbClr>
            </a:solidFill>
            <a:ln>
              <a:solidFill>
                <a:srgbClr val="0788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400"/>
                </a:lnSpc>
              </a:pPr>
              <a:endParaRPr kumimoji="1" lang="ja-JP" altLang="en-US" dirty="0"/>
            </a:p>
          </p:txBody>
        </p: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B1044E5F-7AC5-DE94-5AA1-6925B2D31ADD}"/>
                </a:ext>
              </a:extLst>
            </p:cNvPr>
            <p:cNvSpPr/>
            <p:nvPr/>
          </p:nvSpPr>
          <p:spPr>
            <a:xfrm>
              <a:off x="6016000" y="3411812"/>
              <a:ext cx="2891176" cy="2891174"/>
            </a:xfrm>
            <a:prstGeom prst="ellipse">
              <a:avLst/>
            </a:prstGeom>
            <a:solidFill>
              <a:srgbClr val="F79E02">
                <a:alpha val="50196"/>
              </a:srgbClr>
            </a:solidFill>
            <a:ln>
              <a:solidFill>
                <a:srgbClr val="F79E0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ts val="1400"/>
                </a:lnSpc>
              </a:pPr>
              <a:endParaRPr kumimoji="1" lang="ja-JP" altLang="en-US"/>
            </a:p>
          </p:txBody>
        </p:sp>
      </p:grpSp>
      <p:sp>
        <p:nvSpPr>
          <p:cNvPr id="11" name="楕円 10">
            <a:extLst>
              <a:ext uri="{FF2B5EF4-FFF2-40B4-BE49-F238E27FC236}">
                <a16:creationId xmlns:a16="http://schemas.microsoft.com/office/drawing/2014/main" id="{812F2315-0DB5-761F-2010-377D73D2F222}"/>
              </a:ext>
            </a:extLst>
          </p:cNvPr>
          <p:cNvSpPr/>
          <p:nvPr/>
        </p:nvSpPr>
        <p:spPr>
          <a:xfrm>
            <a:off x="5861585" y="3100052"/>
            <a:ext cx="504056" cy="504056"/>
          </a:xfrm>
          <a:prstGeom prst="ellips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0AB694A8-933D-45AE-296B-48A272DBE975}"/>
              </a:ext>
            </a:extLst>
          </p:cNvPr>
          <p:cNvGrpSpPr/>
          <p:nvPr/>
        </p:nvGrpSpPr>
        <p:grpSpPr>
          <a:xfrm>
            <a:off x="3489891" y="3500763"/>
            <a:ext cx="2415746" cy="1648709"/>
            <a:chOff x="3644306" y="4241100"/>
            <a:chExt cx="2415746" cy="1648709"/>
          </a:xfrm>
        </p:grpSpPr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2AD4E619-B698-14F5-FDED-29FBCB9214F8}"/>
                </a:ext>
              </a:extLst>
            </p:cNvPr>
            <p:cNvSpPr txBox="1"/>
            <p:nvPr/>
          </p:nvSpPr>
          <p:spPr>
            <a:xfrm>
              <a:off x="3644306" y="5520477"/>
              <a:ext cx="1296144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Material</a:t>
              </a:r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472B05BF-C76C-D776-A36C-9AB6A66F4536}"/>
                </a:ext>
              </a:extLst>
            </p:cNvPr>
            <p:cNvGrpSpPr/>
            <p:nvPr/>
          </p:nvGrpSpPr>
          <p:grpSpPr>
            <a:xfrm>
              <a:off x="4230133" y="4241100"/>
              <a:ext cx="1829919" cy="1246587"/>
              <a:chOff x="4230133" y="4241100"/>
              <a:chExt cx="1829919" cy="1246587"/>
            </a:xfrm>
          </p:grpSpPr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40A20F12-6710-B6A8-624D-DD893F77C54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35692" y="4241100"/>
                <a:ext cx="552625" cy="413899"/>
              </a:xfrm>
              <a:prstGeom prst="straightConnector1">
                <a:avLst/>
              </a:prstGeom>
              <a:ln w="57150"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楕円 15">
                <a:extLst>
                  <a:ext uri="{FF2B5EF4-FFF2-40B4-BE49-F238E27FC236}">
                    <a16:creationId xmlns:a16="http://schemas.microsoft.com/office/drawing/2014/main" id="{8BF084CF-911C-52E9-08DC-F824993C6189}"/>
                  </a:ext>
                </a:extLst>
              </p:cNvPr>
              <p:cNvSpPr/>
              <p:nvPr/>
            </p:nvSpPr>
            <p:spPr>
              <a:xfrm>
                <a:off x="4230133" y="5251219"/>
                <a:ext cx="236468" cy="236468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7" name="楕円 16">
                <a:extLst>
                  <a:ext uri="{FF2B5EF4-FFF2-40B4-BE49-F238E27FC236}">
                    <a16:creationId xmlns:a16="http://schemas.microsoft.com/office/drawing/2014/main" id="{A9890AF0-8382-3242-41AD-98B28C696C10}"/>
                  </a:ext>
                </a:extLst>
              </p:cNvPr>
              <p:cNvSpPr/>
              <p:nvPr/>
            </p:nvSpPr>
            <p:spPr>
              <a:xfrm>
                <a:off x="5171542" y="4640224"/>
                <a:ext cx="236468" cy="236468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cxnSp>
            <p:nvCxnSpPr>
              <p:cNvPr id="18" name="直線矢印コネクタ 17">
                <a:extLst>
                  <a:ext uri="{FF2B5EF4-FFF2-40B4-BE49-F238E27FC236}">
                    <a16:creationId xmlns:a16="http://schemas.microsoft.com/office/drawing/2014/main" id="{1DC08580-810A-F813-D2FD-C50B11ADF79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542883" y="4857399"/>
                <a:ext cx="552625" cy="413899"/>
              </a:xfrm>
              <a:prstGeom prst="straightConnector1">
                <a:avLst/>
              </a:prstGeom>
              <a:ln w="57150">
                <a:solidFill>
                  <a:schemeClr val="tx1">
                    <a:lumMod val="85000"/>
                    <a:lumOff val="1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AD7DE85A-6B89-5582-0AC1-2FC4BC50505C}"/>
                  </a:ext>
                </a:extLst>
              </p:cNvPr>
              <p:cNvSpPr txBox="1"/>
              <p:nvPr/>
            </p:nvSpPr>
            <p:spPr>
              <a:xfrm>
                <a:off x="5122010" y="4868291"/>
                <a:ext cx="938042" cy="24486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:r>
                  <a:rPr kumimoji="1" lang="en-US" altLang="ja-JP" sz="16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Spectra</a:t>
                </a:r>
              </a:p>
            </p:txBody>
          </p:sp>
        </p:grp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52F471CE-5D95-AF7F-9B52-AE5FF20DBFA7}"/>
              </a:ext>
            </a:extLst>
          </p:cNvPr>
          <p:cNvGrpSpPr/>
          <p:nvPr/>
        </p:nvGrpSpPr>
        <p:grpSpPr>
          <a:xfrm>
            <a:off x="4489146" y="2400653"/>
            <a:ext cx="5153431" cy="2748819"/>
            <a:chOff x="4643561" y="3140990"/>
            <a:chExt cx="5153431" cy="2748819"/>
          </a:xfrm>
        </p:grpSpPr>
        <p:sp>
          <p:nvSpPr>
            <p:cNvPr id="21" name="楕円 20">
              <a:extLst>
                <a:ext uri="{FF2B5EF4-FFF2-40B4-BE49-F238E27FC236}">
                  <a16:creationId xmlns:a16="http://schemas.microsoft.com/office/drawing/2014/main" id="{828C1255-D01D-DFA7-4A81-67574DBD8886}"/>
                </a:ext>
              </a:extLst>
            </p:cNvPr>
            <p:cNvSpPr/>
            <p:nvPr/>
          </p:nvSpPr>
          <p:spPr>
            <a:xfrm>
              <a:off x="6114676" y="5253802"/>
              <a:ext cx="236468" cy="236468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FFF24526-5A3D-E343-AA77-9A3AE63DD2E6}"/>
                </a:ext>
              </a:extLst>
            </p:cNvPr>
            <p:cNvSpPr txBox="1"/>
            <p:nvPr/>
          </p:nvSpPr>
          <p:spPr>
            <a:xfrm>
              <a:off x="5672160" y="5500042"/>
              <a:ext cx="2494945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16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EChem</a:t>
              </a:r>
              <a:r>
                <a:rPr kumimoji="1" lang="en-US" altLang="ja-JP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Data</a:t>
              </a:r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ED0A081E-A2FF-A947-D327-B8EB586B4748}"/>
                </a:ext>
              </a:extLst>
            </p:cNvPr>
            <p:cNvCxnSpPr>
              <a:cxnSpLocks/>
            </p:cNvCxnSpPr>
            <p:nvPr/>
          </p:nvCxnSpPr>
          <p:spPr>
            <a:xfrm>
              <a:off x="6454050" y="5383781"/>
              <a:ext cx="1393640" cy="0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矢印コネクタ 23">
              <a:extLst>
                <a:ext uri="{FF2B5EF4-FFF2-40B4-BE49-F238E27FC236}">
                  <a16:creationId xmlns:a16="http://schemas.microsoft.com/office/drawing/2014/main" id="{D6CCBA04-D6F2-C2DA-BAC7-4FE0E987171E}"/>
                </a:ext>
              </a:extLst>
            </p:cNvPr>
            <p:cNvCxnSpPr>
              <a:cxnSpLocks/>
            </p:cNvCxnSpPr>
            <p:nvPr/>
          </p:nvCxnSpPr>
          <p:spPr>
            <a:xfrm>
              <a:off x="4643561" y="5383781"/>
              <a:ext cx="1393640" cy="0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B04B2603-D9B9-B2E7-C5B3-A7C42DD3E113}"/>
                </a:ext>
              </a:extLst>
            </p:cNvPr>
            <p:cNvCxnSpPr>
              <a:cxnSpLocks/>
            </p:cNvCxnSpPr>
            <p:nvPr/>
          </p:nvCxnSpPr>
          <p:spPr>
            <a:xfrm>
              <a:off x="6508916" y="3140990"/>
              <a:ext cx="1445880" cy="2016262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楕円 25">
              <a:extLst>
                <a:ext uri="{FF2B5EF4-FFF2-40B4-BE49-F238E27FC236}">
                  <a16:creationId xmlns:a16="http://schemas.microsoft.com/office/drawing/2014/main" id="{701676D0-9435-F06B-5B0E-31C9B857C66B}"/>
                </a:ext>
              </a:extLst>
            </p:cNvPr>
            <p:cNvSpPr/>
            <p:nvPr/>
          </p:nvSpPr>
          <p:spPr>
            <a:xfrm>
              <a:off x="7930637" y="5253802"/>
              <a:ext cx="236468" cy="236468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5D497208-1906-A031-789E-FBA86AB47E4E}"/>
                </a:ext>
              </a:extLst>
            </p:cNvPr>
            <p:cNvSpPr txBox="1"/>
            <p:nvPr/>
          </p:nvSpPr>
          <p:spPr>
            <a:xfrm>
              <a:off x="7948250" y="5520477"/>
              <a:ext cx="1848742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Algorithm</a:t>
              </a:r>
            </a:p>
          </p:txBody>
        </p: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8BFCE253-3AD2-1E0E-D257-43A21E1806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47738" y="4253067"/>
              <a:ext cx="1309531" cy="998152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6C12F63E-7CAF-003E-C7A9-CA791E90F6D9}"/>
              </a:ext>
            </a:extLst>
          </p:cNvPr>
          <p:cNvGrpSpPr/>
          <p:nvPr/>
        </p:nvGrpSpPr>
        <p:grpSpPr>
          <a:xfrm>
            <a:off x="3680125" y="1259195"/>
            <a:ext cx="2323299" cy="3197180"/>
            <a:chOff x="3834540" y="1999532"/>
            <a:chExt cx="2323299" cy="3197180"/>
          </a:xfrm>
        </p:grpSpPr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E01B0204-935A-0A5F-1669-556EF556FA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21714" y="1999532"/>
              <a:ext cx="1736125" cy="3197180"/>
            </a:xfrm>
            <a:prstGeom prst="straightConnector1">
              <a:avLst/>
            </a:prstGeom>
            <a:ln w="76200">
              <a:solidFill>
                <a:schemeClr val="tx1">
                  <a:lumMod val="85000"/>
                  <a:lumOff val="1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6C8EC8D4-6C52-8755-78CF-F5B0D287BBBB}"/>
                </a:ext>
              </a:extLst>
            </p:cNvPr>
            <p:cNvSpPr txBox="1"/>
            <p:nvPr/>
          </p:nvSpPr>
          <p:spPr>
            <a:xfrm>
              <a:off x="3834540" y="2475095"/>
              <a:ext cx="2310691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Optimization</a:t>
              </a:r>
            </a:p>
            <a:p>
              <a:pPr algn="l"/>
              <a:r>
                <a:rPr kumimoji="1" lang="en-US" altLang="ja-JP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Validation</a:t>
              </a:r>
            </a:p>
          </p:txBody>
        </p: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0C7F46F-A3CC-2BBA-B8B2-BB8BA7258C75}"/>
              </a:ext>
            </a:extLst>
          </p:cNvPr>
          <p:cNvSpPr txBox="1"/>
          <p:nvPr/>
        </p:nvSpPr>
        <p:spPr>
          <a:xfrm>
            <a:off x="2456261" y="2736707"/>
            <a:ext cx="364232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ja-JP" sz="3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KM</a:t>
            </a:r>
            <a:r>
              <a:rPr kumimoji="1" lang="en-US" altLang="ja-JP" sz="3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Lucida Calligraphy" panose="03010101010101010101" pitchFamily="66" charset="0"/>
                <a:cs typeface="Arial" panose="020B0604020202020204" pitchFamily="34" charset="0"/>
              </a:rPr>
              <a:t> (S, C, R, K)</a:t>
            </a:r>
          </a:p>
        </p:txBody>
      </p: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233FA7B3-FD85-FD60-4B25-5760EEC9F4AC}"/>
              </a:ext>
            </a:extLst>
          </p:cNvPr>
          <p:cNvGrpSpPr/>
          <p:nvPr/>
        </p:nvGrpSpPr>
        <p:grpSpPr>
          <a:xfrm>
            <a:off x="5619500" y="3766048"/>
            <a:ext cx="2002306" cy="806587"/>
            <a:chOff x="5773915" y="4506385"/>
            <a:chExt cx="2002306" cy="806587"/>
          </a:xfrm>
        </p:grpSpPr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576B3ED4-7D1A-11AE-F738-345FECCCBC4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73915" y="4506385"/>
              <a:ext cx="2002306" cy="806587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FA8E4030-8CA2-BC7D-E945-8F055B63E13C}"/>
                </a:ext>
              </a:extLst>
            </p:cNvPr>
            <p:cNvSpPr txBox="1"/>
            <p:nvPr/>
          </p:nvSpPr>
          <p:spPr>
            <a:xfrm>
              <a:off x="6084137" y="4935049"/>
              <a:ext cx="1096369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Denoise</a:t>
              </a:r>
            </a:p>
          </p:txBody>
        </p: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61C22AC1-D41C-1787-E7A2-CE91FA5B2E44}"/>
              </a:ext>
            </a:extLst>
          </p:cNvPr>
          <p:cNvGrpSpPr/>
          <p:nvPr/>
        </p:nvGrpSpPr>
        <p:grpSpPr>
          <a:xfrm>
            <a:off x="4489146" y="4734575"/>
            <a:ext cx="3330826" cy="860362"/>
            <a:chOff x="4643561" y="5474912"/>
            <a:chExt cx="3330826" cy="860362"/>
          </a:xfrm>
        </p:grpSpPr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CF1F15E6-BACF-5024-D426-FF3DFE9B4671}"/>
                </a:ext>
              </a:extLst>
            </p:cNvPr>
            <p:cNvCxnSpPr>
              <a:cxnSpLocks/>
            </p:cNvCxnSpPr>
            <p:nvPr/>
          </p:nvCxnSpPr>
          <p:spPr>
            <a:xfrm>
              <a:off x="4643561" y="5474912"/>
              <a:ext cx="1393640" cy="514593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楕円 37">
              <a:extLst>
                <a:ext uri="{FF2B5EF4-FFF2-40B4-BE49-F238E27FC236}">
                  <a16:creationId xmlns:a16="http://schemas.microsoft.com/office/drawing/2014/main" id="{972383DA-2566-7B0B-6BA3-A21450FF3B9C}"/>
                </a:ext>
              </a:extLst>
            </p:cNvPr>
            <p:cNvSpPr/>
            <p:nvPr/>
          </p:nvSpPr>
          <p:spPr>
            <a:xfrm>
              <a:off x="6114676" y="5852585"/>
              <a:ext cx="236468" cy="236468"/>
            </a:xfrm>
            <a:prstGeom prst="ellips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cxnSp>
          <p:nvCxnSpPr>
            <p:cNvPr id="39" name="直線矢印コネクタ 38">
              <a:extLst>
                <a:ext uri="{FF2B5EF4-FFF2-40B4-BE49-F238E27FC236}">
                  <a16:creationId xmlns:a16="http://schemas.microsoft.com/office/drawing/2014/main" id="{519DEA4D-1E9D-D7ED-0F94-8F0F84D3BA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7132" y="5543309"/>
              <a:ext cx="1334220" cy="433590"/>
            </a:xfrm>
            <a:prstGeom prst="straightConnector1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7490F2DE-C765-2FB2-CA71-02E870856872}"/>
                </a:ext>
              </a:extLst>
            </p:cNvPr>
            <p:cNvSpPr txBox="1"/>
            <p:nvPr/>
          </p:nvSpPr>
          <p:spPr>
            <a:xfrm>
              <a:off x="5479442" y="6089053"/>
              <a:ext cx="2494945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16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Timecourse</a:t>
              </a:r>
              <a:r>
                <a:rPr kumimoji="1" lang="en-US" altLang="ja-JP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Data</a:t>
              </a:r>
            </a:p>
          </p:txBody>
        </p:sp>
      </p:grp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6D7AE84F-0001-D31F-02D5-C38A8999176C}"/>
              </a:ext>
            </a:extLst>
          </p:cNvPr>
          <p:cNvGrpSpPr/>
          <p:nvPr/>
        </p:nvGrpSpPr>
        <p:grpSpPr>
          <a:xfrm>
            <a:off x="5376226" y="731638"/>
            <a:ext cx="5018194" cy="2265431"/>
            <a:chOff x="5530641" y="1471975"/>
            <a:chExt cx="5018194" cy="2265431"/>
          </a:xfrm>
        </p:grpSpPr>
        <p:grpSp>
          <p:nvGrpSpPr>
            <p:cNvPr id="42" name="グループ化 41">
              <a:extLst>
                <a:ext uri="{FF2B5EF4-FFF2-40B4-BE49-F238E27FC236}">
                  <a16:creationId xmlns:a16="http://schemas.microsoft.com/office/drawing/2014/main" id="{E8BC48F5-ED6C-BF0C-C000-9C70E2F8FB6B}"/>
                </a:ext>
              </a:extLst>
            </p:cNvPr>
            <p:cNvGrpSpPr/>
            <p:nvPr/>
          </p:nvGrpSpPr>
          <p:grpSpPr>
            <a:xfrm>
              <a:off x="5530641" y="1471975"/>
              <a:ext cx="5018194" cy="2265431"/>
              <a:chOff x="5530641" y="1471975"/>
              <a:chExt cx="5018194" cy="2265431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" name="テキスト ボックス 43">
                    <a:extLst>
                      <a:ext uri="{FF2B5EF4-FFF2-40B4-BE49-F238E27FC236}">
                        <a16:creationId xmlns:a16="http://schemas.microsoft.com/office/drawing/2014/main" id="{55D250B6-91F5-482A-D10E-1933A0F181E4}"/>
                      </a:ext>
                    </a:extLst>
                  </p:cNvPr>
                  <p:cNvSpPr txBox="1"/>
                  <p:nvPr/>
                </p:nvSpPr>
                <p:spPr>
                  <a:xfrm>
                    <a:off x="5591031" y="2623966"/>
                    <a:ext cx="4957804" cy="46589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  <m:d>
                            <m:dPr>
                              <m:ctrlP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𝒕</m:t>
                              </m:r>
                            </m:e>
                          </m:d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</m:t>
                          </m:r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𝒇</m:t>
                          </m:r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(</m:t>
                          </m:r>
                          <m:acc>
                            <m:accPr>
                              <m:chr m:val="⃗"/>
                              <m:ctrlP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𝒌</m:t>
                                  </m:r>
                                </m:e>
                                <m:sub>
                                  <m: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𝟎</m:t>
                                  </m:r>
                                </m:sub>
                              </m:sSub>
                            </m:e>
                          </m:acc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acc>
                            <m:accPr>
                              <m:chr m:val="⃗"/>
                              <m:ctrlP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𝑬</m:t>
                                  </m:r>
                                </m:e>
                                <m:sub>
                                  <m:r>
                                    <a:rPr kumimoji="1" lang="en-US" altLang="ja-JP" sz="2400" b="1" i="1" dirty="0" smtClean="0">
                                      <a:solidFill>
                                        <a:schemeClr val="tx1">
                                          <a:lumMod val="85000"/>
                                          <a:lumOff val="1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𝒆𝒒</m:t>
                                  </m:r>
                                </m:sub>
                              </m:sSub>
                            </m:e>
                          </m:acc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acc>
                            <m:accPr>
                              <m:chr m:val="⃗"/>
                              <m:ctrlPr>
                                <a:rPr kumimoji="1" lang="en-US" altLang="ja-JP" sz="2400" b="1" i="1" dirty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ja-JP" sz="2400" b="1" i="1" dirty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𝜶</m:t>
                              </m:r>
                            </m:e>
                          </m:acc>
                          <m:r>
                            <a:rPr kumimoji="1" lang="en-US" altLang="ja-JP" sz="2400" b="1" i="1" dirty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</m:t>
                          </m:r>
                          <m:d>
                            <m:dPr>
                              <m:ctrlP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ja-JP" sz="2400" b="1" i="1" dirty="0" smtClean="0">
                                  <a:solidFill>
                                    <a:schemeClr val="tx1">
                                      <a:lumMod val="85000"/>
                                      <a:lumOff val="1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𝒕</m:t>
                              </m:r>
                            </m:e>
                          </m:d>
                          <m:r>
                            <a:rPr kumimoji="1" lang="en-US" altLang="ja-JP" sz="2400" b="1" i="1" dirty="0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)</m:t>
                          </m:r>
                        </m:oMath>
                      </m:oMathPara>
                    </a14:m>
                    <a:endParaRPr dirty="0"/>
                  </a:p>
                </p:txBody>
              </p:sp>
            </mc:Choice>
            <mc:Fallback>
              <p:sp>
                <p:nvSpPr>
                  <p:cNvPr id="44" name="テキスト ボックス 43">
                    <a:extLst>
                      <a:ext uri="{FF2B5EF4-FFF2-40B4-BE49-F238E27FC236}">
                        <a16:creationId xmlns:a16="http://schemas.microsoft.com/office/drawing/2014/main" id="{55D250B6-91F5-482A-D10E-1933A0F181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1031" y="2623966"/>
                    <a:ext cx="4957804" cy="46589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45" name="グループ化 44">
                <a:extLst>
                  <a:ext uri="{FF2B5EF4-FFF2-40B4-BE49-F238E27FC236}">
                    <a16:creationId xmlns:a16="http://schemas.microsoft.com/office/drawing/2014/main" id="{BE444D19-6AB2-AFEF-3FE8-33609B38A57D}"/>
                  </a:ext>
                </a:extLst>
              </p:cNvPr>
              <p:cNvGrpSpPr/>
              <p:nvPr/>
            </p:nvGrpSpPr>
            <p:grpSpPr>
              <a:xfrm>
                <a:off x="6149794" y="2804442"/>
                <a:ext cx="236468" cy="932964"/>
                <a:chOff x="6149794" y="2424341"/>
                <a:chExt cx="236468" cy="932964"/>
              </a:xfrm>
            </p:grpSpPr>
            <p:sp>
              <p:nvSpPr>
                <p:cNvPr id="50" name="楕円 49">
                  <a:extLst>
                    <a:ext uri="{FF2B5EF4-FFF2-40B4-BE49-F238E27FC236}">
                      <a16:creationId xmlns:a16="http://schemas.microsoft.com/office/drawing/2014/main" id="{50EF996E-AB79-3250-A7C6-C2E4E0172DB6}"/>
                    </a:ext>
                  </a:extLst>
                </p:cNvPr>
                <p:cNvSpPr/>
                <p:nvPr/>
              </p:nvSpPr>
              <p:spPr>
                <a:xfrm>
                  <a:off x="6149794" y="2424341"/>
                  <a:ext cx="236468" cy="236468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51" name="直線矢印コネクタ 50">
                  <a:extLst>
                    <a:ext uri="{FF2B5EF4-FFF2-40B4-BE49-F238E27FC236}">
                      <a16:creationId xmlns:a16="http://schemas.microsoft.com/office/drawing/2014/main" id="{C2D09FED-9E54-6A18-EAE3-E94132F3C6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68028" y="2726228"/>
                  <a:ext cx="0" cy="631077"/>
                </a:xfrm>
                <a:prstGeom prst="straightConnector1">
                  <a:avLst/>
                </a:prstGeom>
                <a:ln w="57150">
                  <a:solidFill>
                    <a:schemeClr val="tx1">
                      <a:lumMod val="85000"/>
                      <a:lumOff val="1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6" name="グループ化 45">
                <a:extLst>
                  <a:ext uri="{FF2B5EF4-FFF2-40B4-BE49-F238E27FC236}">
                    <a16:creationId xmlns:a16="http://schemas.microsoft.com/office/drawing/2014/main" id="{2F7FBB81-BF08-61DA-0AB4-13D5FACB2491}"/>
                  </a:ext>
                </a:extLst>
              </p:cNvPr>
              <p:cNvGrpSpPr/>
              <p:nvPr/>
            </p:nvGrpSpPr>
            <p:grpSpPr>
              <a:xfrm>
                <a:off x="6149794" y="1724049"/>
                <a:ext cx="236468" cy="932964"/>
                <a:chOff x="6149794" y="2424341"/>
                <a:chExt cx="236468" cy="932964"/>
              </a:xfrm>
            </p:grpSpPr>
            <p:sp>
              <p:nvSpPr>
                <p:cNvPr id="48" name="楕円 47">
                  <a:extLst>
                    <a:ext uri="{FF2B5EF4-FFF2-40B4-BE49-F238E27FC236}">
                      <a16:creationId xmlns:a16="http://schemas.microsoft.com/office/drawing/2014/main" id="{F7AA1A27-6C52-01FB-C7F2-E5419577CFE4}"/>
                    </a:ext>
                  </a:extLst>
                </p:cNvPr>
                <p:cNvSpPr/>
                <p:nvPr/>
              </p:nvSpPr>
              <p:spPr>
                <a:xfrm>
                  <a:off x="6149794" y="2424341"/>
                  <a:ext cx="236468" cy="236468"/>
                </a:xfrm>
                <a:prstGeom prst="ellipse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49" name="直線矢印コネクタ 48">
                  <a:extLst>
                    <a:ext uri="{FF2B5EF4-FFF2-40B4-BE49-F238E27FC236}">
                      <a16:creationId xmlns:a16="http://schemas.microsoft.com/office/drawing/2014/main" id="{66CB15FA-2158-D401-61CE-9DE1115878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68028" y="2726228"/>
                  <a:ext cx="0" cy="631077"/>
                </a:xfrm>
                <a:prstGeom prst="straightConnector1">
                  <a:avLst/>
                </a:prstGeom>
                <a:ln w="57150">
                  <a:solidFill>
                    <a:schemeClr val="tx1">
                      <a:lumMod val="85000"/>
                      <a:lumOff val="15000"/>
                    </a:schemeClr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7" name="テキスト ボックス 46">
                <a:extLst>
                  <a:ext uri="{FF2B5EF4-FFF2-40B4-BE49-F238E27FC236}">
                    <a16:creationId xmlns:a16="http://schemas.microsoft.com/office/drawing/2014/main" id="{3BEB994A-15ED-C112-CA49-E4CAA73B76E1}"/>
                  </a:ext>
                </a:extLst>
              </p:cNvPr>
              <p:cNvSpPr txBox="1"/>
              <p:nvPr/>
            </p:nvSpPr>
            <p:spPr>
              <a:xfrm>
                <a:off x="5530641" y="1471975"/>
                <a:ext cx="2394823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:r>
                  <a:rPr kumimoji="1" lang="en-US" altLang="ja-JP" sz="16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Pred. Property</a:t>
                </a:r>
                <a:endParaRPr kumimoji="1" lang="ja-JP" altLang="en-US" sz="16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DCD553C7-63FE-5EE5-A807-8FACDD480A30}"/>
                </a:ext>
              </a:extLst>
            </p:cNvPr>
            <p:cNvSpPr txBox="1"/>
            <p:nvPr/>
          </p:nvSpPr>
          <p:spPr>
            <a:xfrm>
              <a:off x="6454050" y="2362884"/>
              <a:ext cx="1848742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kumimoji="1" lang="en-US" altLang="ja-JP" sz="2400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Model</a:t>
              </a:r>
            </a:p>
          </p:txBody>
        </p:sp>
      </p:grpSp>
      <p:sp>
        <p:nvSpPr>
          <p:cNvPr id="52" name="矢印: 右 51">
            <a:extLst>
              <a:ext uri="{FF2B5EF4-FFF2-40B4-BE49-F238E27FC236}">
                <a16:creationId xmlns:a16="http://schemas.microsoft.com/office/drawing/2014/main" id="{2A24FFCA-9E2C-110D-1B3F-75485F02C821}"/>
              </a:ext>
            </a:extLst>
          </p:cNvPr>
          <p:cNvSpPr/>
          <p:nvPr/>
        </p:nvSpPr>
        <p:spPr>
          <a:xfrm>
            <a:off x="-2527678" y="1885555"/>
            <a:ext cx="683400" cy="384514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E213F590-A34E-ADAD-2769-9EBB68EC61AE}"/>
              </a:ext>
            </a:extLst>
          </p:cNvPr>
          <p:cNvSpPr txBox="1"/>
          <p:nvPr/>
        </p:nvSpPr>
        <p:spPr>
          <a:xfrm>
            <a:off x="-5065240" y="1433104"/>
            <a:ext cx="2891177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Challenges:</a:t>
            </a:r>
          </a:p>
          <a:p>
            <a:pPr algn="l"/>
            <a:r>
              <a:rPr kumimoji="1" lang="en-US" altLang="ja-JP" sz="2400" b="1" dirty="0">
                <a:solidFill>
                  <a:srgbClr val="0094A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Lifetime Theory </a:t>
            </a:r>
          </a:p>
          <a:p>
            <a:pPr algn="l"/>
            <a:r>
              <a:rPr kumimoji="1" lang="en-US" altLang="ja-JP" sz="2400" b="1" dirty="0">
                <a:solidFill>
                  <a:srgbClr val="D5150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Implementation</a:t>
            </a:r>
          </a:p>
        </p:txBody>
      </p:sp>
      <p:sp>
        <p:nvSpPr>
          <p:cNvPr id="55" name="矢印: 右 54">
            <a:extLst>
              <a:ext uri="{FF2B5EF4-FFF2-40B4-BE49-F238E27FC236}">
                <a16:creationId xmlns:a16="http://schemas.microsoft.com/office/drawing/2014/main" id="{7EA64419-297D-9B56-BA8F-83D9F50F00CE}"/>
              </a:ext>
            </a:extLst>
          </p:cNvPr>
          <p:cNvSpPr/>
          <p:nvPr/>
        </p:nvSpPr>
        <p:spPr>
          <a:xfrm rot="10800000">
            <a:off x="13951488" y="3271571"/>
            <a:ext cx="683400" cy="384514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4BCD9A3-855E-2E63-AB73-8D9CA309232B}"/>
              </a:ext>
            </a:extLst>
          </p:cNvPr>
          <p:cNvSpPr txBox="1"/>
          <p:nvPr/>
        </p:nvSpPr>
        <p:spPr>
          <a:xfrm>
            <a:off x="14664952" y="2875002"/>
            <a:ext cx="4605733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Challenges:</a:t>
            </a:r>
          </a:p>
          <a:p>
            <a:pPr algn="l"/>
            <a:r>
              <a:rPr kumimoji="1" lang="en-US" altLang="ja-JP" sz="2400" b="1" dirty="0">
                <a:solidFill>
                  <a:srgbClr val="0094A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From 10 to 1000 </a:t>
            </a:r>
          </a:p>
          <a:p>
            <a:pPr algn="l"/>
            <a:r>
              <a:rPr kumimoji="1" lang="en-US" altLang="ja-JP" sz="2400" b="1" dirty="0">
                <a:solidFill>
                  <a:srgbClr val="FFBF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From </a:t>
            </a:r>
            <a:r>
              <a:rPr kumimoji="1" lang="en-US" altLang="ja-JP" sz="2400" b="1" i="1" dirty="0">
                <a:solidFill>
                  <a:srgbClr val="FFBF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vitro </a:t>
            </a:r>
            <a:r>
              <a:rPr kumimoji="1" lang="en-US" altLang="ja-JP" sz="2400" b="1" dirty="0">
                <a:solidFill>
                  <a:srgbClr val="FFBF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kumimoji="1" lang="en-US" altLang="ja-JP" sz="2400" b="1" i="1" dirty="0">
                <a:solidFill>
                  <a:srgbClr val="FFBF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vivo</a:t>
            </a: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59A76917-DB4F-1662-E0E2-C9CF01E5BF36}"/>
              </a:ext>
            </a:extLst>
          </p:cNvPr>
          <p:cNvSpPr txBox="1"/>
          <p:nvPr/>
        </p:nvSpPr>
        <p:spPr>
          <a:xfrm>
            <a:off x="6942419" y="3036075"/>
            <a:ext cx="130287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ts val="2400"/>
              </a:lnSpc>
            </a:pPr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 Size</a:t>
            </a:r>
          </a:p>
        </p:txBody>
      </p:sp>
      <p:sp>
        <p:nvSpPr>
          <p:cNvPr id="63" name="矢印: 右 62">
            <a:extLst>
              <a:ext uri="{FF2B5EF4-FFF2-40B4-BE49-F238E27FC236}">
                <a16:creationId xmlns:a16="http://schemas.microsoft.com/office/drawing/2014/main" id="{8646549A-2B6C-EFA0-9D03-64EE920A631B}"/>
              </a:ext>
            </a:extLst>
          </p:cNvPr>
          <p:cNvSpPr/>
          <p:nvPr/>
        </p:nvSpPr>
        <p:spPr>
          <a:xfrm rot="10800000">
            <a:off x="15601056" y="5471826"/>
            <a:ext cx="683400" cy="384514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C82C28B4-C6B9-47E5-5B30-9E12E103806E}"/>
              </a:ext>
            </a:extLst>
          </p:cNvPr>
          <p:cNvSpPr txBox="1"/>
          <p:nvPr/>
        </p:nvSpPr>
        <p:spPr>
          <a:xfrm>
            <a:off x="359929" y="7225965"/>
            <a:ext cx="11472142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Perspective: Bridging Genetics and Metabolism using Control Systems Theory</a:t>
            </a:r>
            <a:endParaRPr kumimoji="1" lang="ja-JP" altLang="en-US" sz="2400" b="1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74959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テーマ">
  <a:themeElements>
    <a:clrScheme name="Office 2013 - 2022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spAutoFit/>
      </a:bodyPr>
      <a:lstStyle>
        <a:defPPr algn="l">
          <a:defRPr kumimoji="1" sz="2400" b="1" dirty="0" smtClean="0">
            <a:solidFill>
              <a:schemeClr val="tx1">
                <a:lumMod val="85000"/>
                <a:lumOff val="15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58002</TotalTime>
  <Words>102</Words>
  <Application>Microsoft Office PowerPoint</Application>
  <PresentationFormat>ワイド画面</PresentationFormat>
  <Paragraphs>32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9" baseType="lpstr">
      <vt:lpstr>游ゴシック</vt:lpstr>
      <vt:lpstr>Arial</vt:lpstr>
      <vt:lpstr>Calibri</vt:lpstr>
      <vt:lpstr>Calibri Light</vt:lpstr>
      <vt:lpstr>Cambria Math</vt:lpstr>
      <vt:lpstr>Lucida Calligraphy</vt:lpstr>
      <vt:lpstr>Office 2013 - 2022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Hideshi Ooka</dc:creator>
  <cp:lastModifiedBy>Hideshi Ooka</cp:lastModifiedBy>
  <cp:revision>6249</cp:revision>
  <cp:lastPrinted>2024-09-27T09:27:51Z</cp:lastPrinted>
  <dcterms:created xsi:type="dcterms:W3CDTF">2014-04-21T08:46:21Z</dcterms:created>
  <dcterms:modified xsi:type="dcterms:W3CDTF">2026-03-31T08:35:41Z</dcterms:modified>
</cp:coreProperties>
</file>